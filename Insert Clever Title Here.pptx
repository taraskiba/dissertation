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1" r:id="rId6"/>
    <p:sldId id="262" r:id="rId7"/>
    <p:sldId id="267" r:id="rId8"/>
    <p:sldId id="264" r:id="rId9"/>
    <p:sldId id="265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0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068" autoAdjust="0"/>
  </p:normalViewPr>
  <p:slideViewPr>
    <p:cSldViewPr snapToGrid="0">
      <p:cViewPr>
        <p:scale>
          <a:sx n="75" d="100"/>
          <a:sy n="75" d="100"/>
        </p:scale>
        <p:origin x="564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8EDA2E-6687-47D1-9E48-11218E78CB1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7DACA-6090-4D5E-B44D-B6DC6BB7D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728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7DACA-6090-4D5E-B44D-B6DC6BB7D1D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96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F803D-05B5-7F26-F9AF-008FEB14C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27078-AF89-25A3-1A3C-F332ED4E1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D37BC9-CA9F-6D40-F8FF-157C590CC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6897B-AACA-3E3F-8F2E-E7FBDA42D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7DACA-6090-4D5E-B44D-B6DC6BB7D1D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89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8FA70-DD6C-7BBB-0427-E00661FE4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7DF052-24EA-5644-CE00-0C34E84B9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20D407-83D1-F315-3871-F0018E746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8E65B-4481-E3DD-90D3-A88CC1AB5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7DACA-6090-4D5E-B44D-B6DC6BB7D1D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470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539C3-480E-65DC-4391-21E4CF7BC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0F72E3-3CB1-6655-0B5D-CBCE11401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CBD7E-F890-587D-CDAC-836637BE2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461A2-F3BD-A0DC-622F-765919191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7DACA-6090-4D5E-B44D-B6DC6BB7D1D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83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3188F-E526-6413-9743-1214EA8BD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B6557-0DD6-1FD1-D87A-B400F20AC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9A62C-FFBD-5059-9234-8E9893EBD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AB625-7B50-9292-F03E-6BB30E3A8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7DACA-6090-4D5E-B44D-B6DC6BB7D1D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44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172ED-78FE-F933-FA1E-2CE062FC5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E7149-D2EF-EB92-3469-DE4C6E43B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CB98C-96E4-2DD2-CD16-7DB5B8415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CF7DE-1F0D-985C-E8D3-B37248EB1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7DACA-6090-4D5E-B44D-B6DC6BB7D1D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76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03C4C-20C6-184D-9736-08E830EB0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A66E1-580F-2FC1-AD71-2DA5104789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419CD-FD4A-5B9D-A40F-9C94AD0F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13366-C162-4538-A49D-730851CEF2C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CD3D4-23C3-3EC8-984F-612CD848D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58036-54B8-30B9-7E29-FD0B98241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79D81-3DE8-4496-9E14-FBABBD317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75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CF5B4-2906-B8E2-DAE6-25A681B8F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C0619-D982-F994-F71F-BAFCD29ED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22FDD-ABE0-C583-A43C-E36E3B4BA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13366-C162-4538-A49D-730851CEF2C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EA097-1F60-9EB7-4656-192D27357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12598-90E9-E95C-5866-DB313CEE5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79D81-3DE8-4496-9E14-FBABBD317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93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A3CDB-B87A-3E19-9BB8-268E68594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65B89-CB0B-C6CE-8F4F-9CC5A18F0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EF588-7CF6-5A25-7772-C4EF57239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13366-C162-4538-A49D-730851CEF2C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7FE8-D4D4-5F1D-0A68-3BABDD2BA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9F677-F03F-CE23-ADE5-3DD3CB3B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79D81-3DE8-4496-9E14-FBABBD317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657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CA5F8-6653-8164-F28F-964F22481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9D33C-3AA2-C6E5-3C6E-9BD1DA60D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6A9077-D83E-25F7-522B-7E31C8C0D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F07C8-FA60-E396-2BEE-6E454E9E5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13366-C162-4538-A49D-730851CEF2C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C6A7F-3E8E-D673-168A-67A64EE96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8A1D1-4A45-A472-8592-05ED03EAA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79D81-3DE8-4496-9E14-FBABBD317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61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D2D17-F4FF-2289-93DF-30CDF8373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EE4A9-DB04-59B3-E58A-0AE7C0087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1E1EE-6607-89BC-FE3B-09DA26BCE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DA9E67-F765-D1A9-B3EE-B852FCBB6B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5AC3ED-84B5-E276-5B81-69297B891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D7EA3A-28AD-D52C-26C5-4C03AADC1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13366-C162-4538-A49D-730851CEF2C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3D8BA4-05FA-A2BC-8F28-4D4C2A0D1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C851DB-5C20-B564-9672-695CEC5E3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79D81-3DE8-4496-9E14-FBABBD317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37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81FB-727C-DBB4-3FDF-BA9D66F98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D952D0-FB81-D289-B7C8-9019AD0FE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13366-C162-4538-A49D-730851CEF2C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7E675-901B-624C-4711-081AE5CAE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FFDDC-6A98-18B0-01F4-4E3F2C8A9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79D81-3DE8-4496-9E14-FBABBD317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957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02192-4B86-2A8B-BF5E-D10BE9D5A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13366-C162-4538-A49D-730851CEF2C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B6DE1C-4D89-1A58-B128-CA0653365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247EF-2E60-235B-C88A-E0708571E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79D81-3DE8-4496-9E14-FBABBD317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132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0CB29-B428-7123-2007-6FC92EC5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FDD4F-04FF-A2C8-2EAB-4B34715F7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32510-B2E2-882B-D7BB-E1290B376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EDD62-5C64-7644-0C3F-BAD0B26D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13366-C162-4538-A49D-730851CEF2C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735B3-9572-624B-1908-494E29416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14E1A-4CF1-D7C0-0EF9-98AAB69EA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79D81-3DE8-4496-9E14-FBABBD317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46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85CBB-6CD4-00C2-73B8-1680B13E1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541D1-B0DF-413B-488B-624296B84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EDA139-E609-5A72-4603-BD290E2CB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391D5-BAB2-D7AC-74CC-122EE9565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13366-C162-4538-A49D-730851CEF2C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79DA1-8952-EA32-8131-B47E3BFEE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DCF76-CAB0-687E-E092-9CF7F616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79D81-3DE8-4496-9E14-FBABBD317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744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4E152-D2F0-16F8-E006-D86C21865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5E4261-372A-9619-D238-92C18DCE6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43268-E968-C3B0-4607-C41DBE207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13366-C162-4538-A49D-730851CEF2C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468EC-FDF7-F146-D6A1-0743ED7D1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32CE3-34A3-0E91-6004-9298F90E9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79D81-3DE8-4496-9E14-FBABBD317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728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9A925B-D4E0-7C3C-F2E4-D4B806FA9C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5C928-CFD3-826E-338C-119C65014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59E1B-DB28-5091-B80A-02FD7A8FA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13366-C162-4538-A49D-730851CEF2C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1F528-CEEA-B1AF-C367-FAC4B476F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FA19F-FA2E-E423-DCFF-319287B9E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79D81-3DE8-4496-9E14-FBABBD317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15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230CC0-8466-9626-19C1-66581B8D4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AD202-AF48-5037-D3D7-3060E1816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4883A-A3CC-77A0-FBE3-FBE20AB01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813366-C162-4538-A49D-730851CEF2C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B0265-ABC4-CE15-9BBE-80A371FF7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0EF9D-6FF6-A6FA-0611-527EE5405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E79D81-3DE8-4496-9E14-FBABBD317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74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737/WO-GTR-104" TargetMode="External"/><Relationship Id="rId7" Type="http://schemas.openxmlformats.org/officeDocument/2006/relationships/hyperlink" Target="https://doi.org/10.1016/j.ecoinf.2022.101934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98/108571108X273160" TargetMode="External"/><Relationship Id="rId5" Type="http://schemas.openxmlformats.org/officeDocument/2006/relationships/hyperlink" Target="https://doi.org/10.3390/rs14225676" TargetMode="External"/><Relationship Id="rId4" Type="http://schemas.openxmlformats.org/officeDocument/2006/relationships/hyperlink" Target="https://doi.org/10.1007/s44392-025-00044-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852329-82FF-2105-A585-6C1C9E972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52456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Red Hat Display"/>
                <a:cs typeface="Red Hat Display"/>
                <a:sym typeface="Red Hat Display"/>
              </a:rPr>
              <a:t>Bayesian Carbon Prediction Models: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Red Hat Display"/>
                <a:cs typeface="Red Hat Display"/>
                <a:sym typeface="Red Hat Display"/>
              </a:rPr>
              <a:t>Quap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Red Hat Display"/>
                <a:cs typeface="Red Hat Display"/>
                <a:sym typeface="Red Hat Display"/>
              </a:rPr>
              <a:t> vs 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Red Hat Display"/>
                <a:cs typeface="Red Hat Display"/>
                <a:sym typeface="Red Hat Display"/>
              </a:rPr>
              <a:t>MCMC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Red Hat Display"/>
                <a:cs typeface="Red Hat Display"/>
                <a:sym typeface="Red Hat Display"/>
              </a:rPr>
              <a:t> comparison with stand-level variables</a:t>
            </a:r>
            <a:endParaRPr kumimoji="0" lang="en-US" sz="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835A7ADD-F2CA-B35D-7C9E-8CAFAE995CF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913792"/>
            <a:ext cx="914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ea typeface="Red Hat Display"/>
                <a:cs typeface="Arial" panose="020B0604020202020204" pitchFamily="34" charset="0"/>
                <a:sym typeface="Red Hat Display"/>
              </a:rPr>
              <a:t>Beneficial Bayes</a:t>
            </a:r>
            <a:endParaRPr sz="1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Google Shape;106;p13">
            <a:extLst>
              <a:ext uri="{FF2B5EF4-FFF2-40B4-BE49-F238E27FC236}">
                <a16:creationId xmlns:a16="http://schemas.microsoft.com/office/drawing/2014/main" id="{345BE49A-64B9-554C-0856-C4E8E433D12C}"/>
              </a:ext>
            </a:extLst>
          </p:cNvPr>
          <p:cNvCxnSpPr/>
          <p:nvPr/>
        </p:nvCxnSpPr>
        <p:spPr>
          <a:xfrm>
            <a:off x="-88900" y="567590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106;p13">
            <a:extLst>
              <a:ext uri="{FF2B5EF4-FFF2-40B4-BE49-F238E27FC236}">
                <a16:creationId xmlns:a16="http://schemas.microsoft.com/office/drawing/2014/main" id="{48B55F74-6747-F6B6-B7E8-46AB66825785}"/>
              </a:ext>
            </a:extLst>
          </p:cNvPr>
          <p:cNvCxnSpPr/>
          <p:nvPr/>
        </p:nvCxnSpPr>
        <p:spPr>
          <a:xfrm>
            <a:off x="-384629" y="6096000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" name="Google Shape;103;p13">
            <a:extLst>
              <a:ext uri="{FF2B5EF4-FFF2-40B4-BE49-F238E27FC236}">
                <a16:creationId xmlns:a16="http://schemas.microsoft.com/office/drawing/2014/main" id="{DEB8CA39-807D-C73C-80D9-A18425A7345D}"/>
              </a:ext>
            </a:extLst>
          </p:cNvPr>
          <p:cNvSpPr txBox="1"/>
          <p:nvPr/>
        </p:nvSpPr>
        <p:spPr>
          <a:xfrm>
            <a:off x="261257" y="5439508"/>
            <a:ext cx="342537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 dirty="0">
                <a:solidFill>
                  <a:schemeClr val="tx1"/>
                </a:solidFill>
                <a:latin typeface="Arial" panose="020B0604020202020204" pitchFamily="34" charset="0"/>
                <a:ea typeface="Red Hat Display"/>
                <a:cs typeface="Arial" panose="020B0604020202020204" pitchFamily="34" charset="0"/>
                <a:sym typeface="Red Hat Display"/>
              </a:rPr>
              <a:t>Tara Skiba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 dirty="0">
                <a:solidFill>
                  <a:schemeClr val="tx1"/>
                </a:solidFill>
                <a:latin typeface="Arial" panose="020B0604020202020204" pitchFamily="34" charset="0"/>
                <a:ea typeface="Red Hat Display"/>
                <a:cs typeface="Arial" panose="020B0604020202020204" pitchFamily="34" charset="0"/>
                <a:sym typeface="Red Hat Display"/>
              </a:rPr>
              <a:t>WFS 560 Final Project</a:t>
            </a:r>
            <a:endParaRPr sz="2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103;p13">
            <a:extLst>
              <a:ext uri="{FF2B5EF4-FFF2-40B4-BE49-F238E27FC236}">
                <a16:creationId xmlns:a16="http://schemas.microsoft.com/office/drawing/2014/main" id="{D75F89BE-F8F4-42A2-DCF3-6210B8799BC2}"/>
              </a:ext>
            </a:extLst>
          </p:cNvPr>
          <p:cNvSpPr txBox="1"/>
          <p:nvPr/>
        </p:nvSpPr>
        <p:spPr>
          <a:xfrm>
            <a:off x="8759371" y="5734973"/>
            <a:ext cx="318716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 dirty="0">
                <a:solidFill>
                  <a:schemeClr val="tx1"/>
                </a:solidFill>
                <a:latin typeface="Arial" panose="020B0604020202020204" pitchFamily="34" charset="0"/>
                <a:ea typeface="Red Hat Display"/>
                <a:cs typeface="Arial" panose="020B0604020202020204" pitchFamily="34" charset="0"/>
                <a:sym typeface="Red Hat Display"/>
              </a:rPr>
              <a:t>December 8, 2025</a:t>
            </a:r>
            <a:endParaRPr sz="2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822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F254B-1931-B2F2-E30E-33EA8AB68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Introduction to carbon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24B5D-B2FE-499D-8147-AFDBA69D7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901"/>
            <a:ext cx="10515600" cy="4691062"/>
          </a:xfrm>
        </p:spPr>
        <p:txBody>
          <a:bodyPr>
            <a:normAutofit/>
          </a:bodyPr>
          <a:lstStyle/>
          <a:p>
            <a:pPr>
              <a:buSzPct val="60000"/>
              <a:buFont typeface="Wingdings" panose="05000000000000000000" pitchFamily="2" charset="2"/>
              <a:buChar char="q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Carbon – hot field ($$$) and growing climate concerns</a:t>
            </a:r>
          </a:p>
          <a:p>
            <a:pPr lvl="1">
              <a:buSzPct val="60000"/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Quantifying live aboveground carbon (ABG or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C) – accurately!</a:t>
            </a:r>
          </a:p>
          <a:p>
            <a:pPr lvl="1">
              <a:buSzPct val="60000"/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Recently updated carbon biomass equations (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species specific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Previous frequentist approach – linear mixed-effect model</a:t>
            </a:r>
          </a:p>
          <a:p>
            <a:pPr lvl="2">
              <a:buSzPct val="60000"/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Quick, accurate, works well on large areas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SzPct val="60000"/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Locally calibrated and deployed, limited use outside of calibrated region</a:t>
            </a:r>
          </a:p>
          <a:p>
            <a:pPr lvl="2">
              <a:buSzPct val="60000"/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Only coefficients are passed to new observations</a:t>
            </a:r>
          </a:p>
          <a:p>
            <a:pPr lvl="1">
              <a:buSzPct val="60000"/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Benefits of a Bayesian approach</a:t>
            </a:r>
          </a:p>
          <a:p>
            <a:pPr lvl="2">
              <a:buSzPct val="60000"/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Passing along the posterior distribution for coefficients provides flexibility in new datasets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SzPct val="60000"/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Increases predictive accuracy in new observations</a:t>
            </a:r>
          </a:p>
          <a:p>
            <a:pPr lvl="2">
              <a:buSzPct val="60000"/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More useful to small landowners with land outside original region but may match in forest species composition.</a:t>
            </a:r>
          </a:p>
          <a:p>
            <a:pPr lvl="2">
              <a:buSzPct val="60000"/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Currently used frequently in handling remotely sensed/geospatial data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4,5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SzPct val="60000"/>
              <a:buFont typeface="Wingdings" panose="05000000000000000000" pitchFamily="2" charset="2"/>
              <a:buChar char="q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Google Shape;106;p13">
            <a:extLst>
              <a:ext uri="{FF2B5EF4-FFF2-40B4-BE49-F238E27FC236}">
                <a16:creationId xmlns:a16="http://schemas.microsoft.com/office/drawing/2014/main" id="{DE8411A2-D199-03E9-D7D7-26CD7446F4DE}"/>
              </a:ext>
            </a:extLst>
          </p:cNvPr>
          <p:cNvCxnSpPr/>
          <p:nvPr/>
        </p:nvCxnSpPr>
        <p:spPr>
          <a:xfrm>
            <a:off x="0" y="386616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106;p13">
            <a:extLst>
              <a:ext uri="{FF2B5EF4-FFF2-40B4-BE49-F238E27FC236}">
                <a16:creationId xmlns:a16="http://schemas.microsoft.com/office/drawing/2014/main" id="{CE62D7E6-177D-51C9-A733-8FEBAAD5C03D}"/>
              </a:ext>
            </a:extLst>
          </p:cNvPr>
          <p:cNvCxnSpPr/>
          <p:nvPr/>
        </p:nvCxnSpPr>
        <p:spPr>
          <a:xfrm>
            <a:off x="-498929" y="6484084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80699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3041B-5AFC-6970-18A4-C4A1904CF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5C325-819C-8590-6E86-B8F455442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Introduction to carbon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F0D5C-CA1F-E6A6-2F2A-D786B32E3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901"/>
            <a:ext cx="10515600" cy="4691062"/>
          </a:xfrm>
        </p:spPr>
        <p:txBody>
          <a:bodyPr>
            <a:normAutofit/>
          </a:bodyPr>
          <a:lstStyle/>
          <a:p>
            <a:pPr>
              <a:buSzPct val="60000"/>
              <a:buFont typeface="Wingdings" panose="05000000000000000000" pitchFamily="2" charset="2"/>
              <a:buChar char="q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Carbon – hot field ($$$) and growing climate concerns</a:t>
            </a:r>
          </a:p>
          <a:p>
            <a:pPr lvl="1">
              <a:buSzPct val="60000"/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Quantifying live aboveground carbon (ABG or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C) – accurately!</a:t>
            </a:r>
          </a:p>
          <a:p>
            <a:pPr lvl="1">
              <a:buSzPct val="60000"/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Recently updated carbon biomass equations (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species specific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Previous frequentist approach – linear mixed-effect model</a:t>
            </a:r>
          </a:p>
          <a:p>
            <a:pPr lvl="2">
              <a:buSzPct val="6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Quick, accurate, works well on large areas</a:t>
            </a:r>
            <a:r>
              <a:rPr lang="en-US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SzPct val="6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Locally calibrated and deployed, limited use outside of calibrated region</a:t>
            </a:r>
          </a:p>
          <a:p>
            <a:pPr lvl="2">
              <a:buSzPct val="6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coefficients are passed to new observations</a:t>
            </a:r>
          </a:p>
          <a:p>
            <a:pPr lvl="1">
              <a:buSzPct val="60000"/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Benefits of a Bayesian approach</a:t>
            </a:r>
          </a:p>
          <a:p>
            <a:pPr lvl="2">
              <a:buSzPct val="60000"/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Passing along the posterior distribution for coefficients provides flexibility in new datasets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SzPct val="60000"/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Increases predictive accuracy in new observations</a:t>
            </a:r>
          </a:p>
          <a:p>
            <a:pPr lvl="2">
              <a:buSzPct val="60000"/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More useful to small landowners with land outside original region but may match in forest species composition.</a:t>
            </a:r>
          </a:p>
          <a:p>
            <a:pPr lvl="2">
              <a:buSzPct val="60000"/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Currently used frequently in handling remotely sensed/geospatial data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4,5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SzPct val="60000"/>
              <a:buFont typeface="Wingdings" panose="05000000000000000000" pitchFamily="2" charset="2"/>
              <a:buChar char="q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Google Shape;106;p13">
            <a:extLst>
              <a:ext uri="{FF2B5EF4-FFF2-40B4-BE49-F238E27FC236}">
                <a16:creationId xmlns:a16="http://schemas.microsoft.com/office/drawing/2014/main" id="{E64C3B12-4731-9767-F2CC-576542AF7B94}"/>
              </a:ext>
            </a:extLst>
          </p:cNvPr>
          <p:cNvCxnSpPr/>
          <p:nvPr/>
        </p:nvCxnSpPr>
        <p:spPr>
          <a:xfrm>
            <a:off x="0" y="386616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106;p13">
            <a:extLst>
              <a:ext uri="{FF2B5EF4-FFF2-40B4-BE49-F238E27FC236}">
                <a16:creationId xmlns:a16="http://schemas.microsoft.com/office/drawing/2014/main" id="{C9C5000F-BC37-8A8C-1E6A-D3513C34055D}"/>
              </a:ext>
            </a:extLst>
          </p:cNvPr>
          <p:cNvCxnSpPr/>
          <p:nvPr/>
        </p:nvCxnSpPr>
        <p:spPr>
          <a:xfrm>
            <a:off x="-498929" y="6484084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430535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9F9B3-A9AB-90D6-5F45-877B66AC1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3BC-9BC0-14D2-F63F-1670B7CA2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i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C1422-A923-CDC4-232A-203844717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1"/>
            <a:ext cx="10515600" cy="4691062"/>
          </a:xfrm>
        </p:spPr>
        <p:txBody>
          <a:bodyPr>
            <a:normAutofit/>
          </a:bodyPr>
          <a:lstStyle/>
          <a:p>
            <a:pPr>
              <a:buSzPct val="60000"/>
              <a:buFont typeface="Wingdings" panose="05000000000000000000" pitchFamily="2" charset="2"/>
              <a:buChar char="q"/>
            </a:pP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Great Smoky Mountains National Park</a:t>
            </a:r>
          </a:p>
          <a:p>
            <a:pPr lvl="1">
              <a:buSzPct val="60000"/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Oak-hickory forests</a:t>
            </a:r>
          </a:p>
          <a:p>
            <a:pPr>
              <a:buSzPct val="60000"/>
              <a:buFont typeface="Wingdings" panose="05000000000000000000" pitchFamily="2" charset="2"/>
              <a:buChar char="q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Forest Inventory and Analysis (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FIA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long-term forest monitoring program</a:t>
            </a:r>
          </a:p>
          <a:p>
            <a:pPr lvl="1">
              <a:buSzPct val="60000"/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Permanent plot data – repeated plot measurements ~5 years</a:t>
            </a:r>
          </a:p>
          <a:p>
            <a:pPr lvl="1">
              <a:buSzPct val="60000"/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Plots are individual units</a:t>
            </a:r>
          </a:p>
          <a:p>
            <a:pPr lvl="1">
              <a:buSzPct val="60000"/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392 observations, 137 unique plots</a:t>
            </a:r>
          </a:p>
          <a:p>
            <a:pPr lvl="1">
              <a:buSzPct val="60000"/>
              <a:buFont typeface="Wingdings" panose="05000000000000000000" pitchFamily="2" charset="2"/>
              <a:buChar char="q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cpa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(in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MgC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/ha)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quad. mean diameter (</a:t>
            </a:r>
            <a:r>
              <a:rPr lang="en-US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qmd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basal area/ha (</a:t>
            </a:r>
            <a:r>
              <a:rPr lang="en-US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baph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trees/ha (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tph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mean diameter (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md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mean height (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mean H:D (</a:t>
            </a:r>
            <a:r>
              <a:rPr lang="en-US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hd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slope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aspect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stand density index (</a:t>
            </a:r>
            <a:r>
              <a:rPr lang="en-US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sdi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buSzPct val="60000"/>
              <a:buFont typeface="Wingdings" panose="05000000000000000000" pitchFamily="2" charset="2"/>
              <a:buChar char="q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q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Google Shape;106;p13">
            <a:extLst>
              <a:ext uri="{FF2B5EF4-FFF2-40B4-BE49-F238E27FC236}">
                <a16:creationId xmlns:a16="http://schemas.microsoft.com/office/drawing/2014/main" id="{9C70BB5F-774B-241E-FD32-681488DA7422}"/>
              </a:ext>
            </a:extLst>
          </p:cNvPr>
          <p:cNvCxnSpPr/>
          <p:nvPr/>
        </p:nvCxnSpPr>
        <p:spPr>
          <a:xfrm>
            <a:off x="0" y="386616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106;p13">
            <a:extLst>
              <a:ext uri="{FF2B5EF4-FFF2-40B4-BE49-F238E27FC236}">
                <a16:creationId xmlns:a16="http://schemas.microsoft.com/office/drawing/2014/main" id="{666783E9-EC89-B496-4752-96229C8DF520}"/>
              </a:ext>
            </a:extLst>
          </p:cNvPr>
          <p:cNvCxnSpPr/>
          <p:nvPr/>
        </p:nvCxnSpPr>
        <p:spPr>
          <a:xfrm>
            <a:off x="-498929" y="6484084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534981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C5EC9-77F4-223F-05FC-A04F56CBD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9DD4-26D6-B296-544E-41BD31102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Proposed question: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61064-6F89-5D92-6702-A4D0E0C44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901"/>
            <a:ext cx="10515600" cy="4691062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have a previous frequentist linear mixed-effects model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2,6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(simple), a linear model fit with </a:t>
            </a: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quap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(complex), and a hierarchical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MCMC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model (most complex) with stand-level inventory variables…</a:t>
            </a:r>
          </a:p>
          <a:p>
            <a:pPr marL="0" indent="0">
              <a:buSzPct val="100000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SzPct val="100000"/>
              <a:buNone/>
            </a:pP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Do more complex Bayesian models have stronger prediction power for carbon over their simple counterparts?</a:t>
            </a:r>
          </a:p>
          <a:p>
            <a:pPr marL="0" indent="0">
              <a:buSzPct val="100000"/>
              <a:buNone/>
            </a:pPr>
            <a:endParaRPr lang="en-US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SzPct val="100000"/>
              <a:buNone/>
            </a:pP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How do the 2 Bayesian models compare in carbon predictions and usability?</a:t>
            </a:r>
          </a:p>
        </p:txBody>
      </p:sp>
      <p:cxnSp>
        <p:nvCxnSpPr>
          <p:cNvPr id="4" name="Google Shape;106;p13">
            <a:extLst>
              <a:ext uri="{FF2B5EF4-FFF2-40B4-BE49-F238E27FC236}">
                <a16:creationId xmlns:a16="http://schemas.microsoft.com/office/drawing/2014/main" id="{AA0D136C-DD80-5ED5-7934-5436F37FE6D5}"/>
              </a:ext>
            </a:extLst>
          </p:cNvPr>
          <p:cNvCxnSpPr/>
          <p:nvPr/>
        </p:nvCxnSpPr>
        <p:spPr>
          <a:xfrm>
            <a:off x="0" y="386616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106;p13">
            <a:extLst>
              <a:ext uri="{FF2B5EF4-FFF2-40B4-BE49-F238E27FC236}">
                <a16:creationId xmlns:a16="http://schemas.microsoft.com/office/drawing/2014/main" id="{EBC0C7F9-1294-CC84-1E93-C6B3124B4FC6}"/>
              </a:ext>
            </a:extLst>
          </p:cNvPr>
          <p:cNvCxnSpPr/>
          <p:nvPr/>
        </p:nvCxnSpPr>
        <p:spPr>
          <a:xfrm>
            <a:off x="-498929" y="6484084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693625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FF3E2-BBBE-E7B4-512F-154B2011C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1335-B026-04EA-49E6-5415F0C87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200"/>
            <a:ext cx="10515600" cy="1325563"/>
          </a:xfrm>
        </p:spPr>
        <p:txBody>
          <a:bodyPr/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Preliminary data exploration</a:t>
            </a:r>
          </a:p>
        </p:txBody>
      </p:sp>
      <p:cxnSp>
        <p:nvCxnSpPr>
          <p:cNvPr id="4" name="Google Shape;106;p13">
            <a:extLst>
              <a:ext uri="{FF2B5EF4-FFF2-40B4-BE49-F238E27FC236}">
                <a16:creationId xmlns:a16="http://schemas.microsoft.com/office/drawing/2014/main" id="{B90485E5-8E38-F102-040A-F6DC7C738FB7}"/>
              </a:ext>
            </a:extLst>
          </p:cNvPr>
          <p:cNvCxnSpPr/>
          <p:nvPr/>
        </p:nvCxnSpPr>
        <p:spPr>
          <a:xfrm>
            <a:off x="0" y="386616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106;p13">
            <a:extLst>
              <a:ext uri="{FF2B5EF4-FFF2-40B4-BE49-F238E27FC236}">
                <a16:creationId xmlns:a16="http://schemas.microsoft.com/office/drawing/2014/main" id="{095AAA82-930E-ED8E-4336-66318C9D0554}"/>
              </a:ext>
            </a:extLst>
          </p:cNvPr>
          <p:cNvCxnSpPr/>
          <p:nvPr/>
        </p:nvCxnSpPr>
        <p:spPr>
          <a:xfrm>
            <a:off x="-498929" y="6484084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" name="Picture 13" descr="A graph of a bar graph&#10;&#10;AI-generated content may be incorrect.">
            <a:extLst>
              <a:ext uri="{FF2B5EF4-FFF2-40B4-BE49-F238E27FC236}">
                <a16:creationId xmlns:a16="http://schemas.microsoft.com/office/drawing/2014/main" id="{233DA93C-197D-7068-74B9-69709891B9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7" r="-1" b="14198"/>
          <a:stretch>
            <a:fillRect/>
          </a:stretch>
        </p:blipFill>
        <p:spPr>
          <a:xfrm>
            <a:off x="676442" y="4050640"/>
            <a:ext cx="3414795" cy="1952366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2EE16B8-1509-2CE8-559D-B3A2223D53AC}"/>
              </a:ext>
            </a:extLst>
          </p:cNvPr>
          <p:cNvSpPr txBox="1"/>
          <p:nvPr/>
        </p:nvSpPr>
        <p:spPr>
          <a:xfrm>
            <a:off x="1983504" y="3520920"/>
            <a:ext cx="800669" cy="36301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16" name="Picture 15" descr="A graph of a graph&#10;&#10;AI-generated content may be incorrect.">
            <a:extLst>
              <a:ext uri="{FF2B5EF4-FFF2-40B4-BE49-F238E27FC236}">
                <a16:creationId xmlns:a16="http://schemas.microsoft.com/office/drawing/2014/main" id="{1FA274B0-6136-10D3-8FFF-CA76F582B4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298"/>
          <a:stretch>
            <a:fillRect/>
          </a:stretch>
        </p:blipFill>
        <p:spPr>
          <a:xfrm>
            <a:off x="8392156" y="4044534"/>
            <a:ext cx="3414795" cy="198244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D4ED430-BE2A-C5C2-8C09-5334E26D279D}"/>
              </a:ext>
            </a:extLst>
          </p:cNvPr>
          <p:cNvSpPr txBox="1"/>
          <p:nvPr/>
        </p:nvSpPr>
        <p:spPr>
          <a:xfrm>
            <a:off x="9706727" y="3519053"/>
            <a:ext cx="785651" cy="36488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cs typeface="Arial" panose="020B0604020202020204" pitchFamily="34" charset="0"/>
              </a:rPr>
              <a:t>C</a:t>
            </a:r>
            <a:r>
              <a:rPr lang="en-US" sz="2000" baseline="30000" dirty="0">
                <a:solidFill>
                  <a:schemeClr val="bg1"/>
                </a:solidFill>
                <a:cs typeface="Arial" panose="020B0604020202020204" pitchFamily="34" charset="0"/>
              </a:rPr>
              <a:t>0.5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BB3E95-F61A-1427-68C6-1EEA15B3F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3936"/>
            <a:ext cx="10806997" cy="1977744"/>
          </a:xfrm>
        </p:spPr>
        <p:txBody>
          <a:bodyPr>
            <a:normAutofit fontScale="85000" lnSpcReduction="20000"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must be positive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issues with shared values, using testing datasets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 transformation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Sqrt transformation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Predictors variable: all +, but untransformed 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focusing on prediction power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12" name="Picture 11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BF071C8D-48E2-BDA8-7F64-FEDB96C92E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96"/>
          <a:stretch>
            <a:fillRect/>
          </a:stretch>
        </p:blipFill>
        <p:spPr>
          <a:xfrm>
            <a:off x="4534299" y="4046142"/>
            <a:ext cx="3414795" cy="1956600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541475E-DD18-2827-89BA-D43D1E4D580A}"/>
              </a:ext>
            </a:extLst>
          </p:cNvPr>
          <p:cNvSpPr txBox="1"/>
          <p:nvPr/>
        </p:nvSpPr>
        <p:spPr>
          <a:xfrm>
            <a:off x="5710942" y="3524730"/>
            <a:ext cx="106150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cs typeface="Arial" panose="020B0604020202020204" pitchFamily="34" charset="0"/>
              </a:rPr>
              <a:t>log(C)</a:t>
            </a:r>
            <a:endParaRPr lang="en-US" sz="2000" baseline="300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820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4E315-3ACC-0297-8FF1-C211CCF1D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3C5DE-6458-D3C1-DBCA-5F4CACC58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200"/>
            <a:ext cx="10515600" cy="1325563"/>
          </a:xfrm>
        </p:spPr>
        <p:txBody>
          <a:bodyPr/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Preliminary data exploration</a:t>
            </a:r>
          </a:p>
        </p:txBody>
      </p:sp>
      <p:cxnSp>
        <p:nvCxnSpPr>
          <p:cNvPr id="4" name="Google Shape;106;p13">
            <a:extLst>
              <a:ext uri="{FF2B5EF4-FFF2-40B4-BE49-F238E27FC236}">
                <a16:creationId xmlns:a16="http://schemas.microsoft.com/office/drawing/2014/main" id="{CB0AB0F3-8B2F-B0D9-8F56-44AD3786D3B6}"/>
              </a:ext>
            </a:extLst>
          </p:cNvPr>
          <p:cNvCxnSpPr/>
          <p:nvPr/>
        </p:nvCxnSpPr>
        <p:spPr>
          <a:xfrm>
            <a:off x="0" y="386616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106;p13">
            <a:extLst>
              <a:ext uri="{FF2B5EF4-FFF2-40B4-BE49-F238E27FC236}">
                <a16:creationId xmlns:a16="http://schemas.microsoft.com/office/drawing/2014/main" id="{ED427FA7-7121-7532-CB61-F2B2FC7A149F}"/>
              </a:ext>
            </a:extLst>
          </p:cNvPr>
          <p:cNvCxnSpPr/>
          <p:nvPr/>
        </p:nvCxnSpPr>
        <p:spPr>
          <a:xfrm>
            <a:off x="-498929" y="6484084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" name="Picture 13" descr="A graph of a bar graph&#10;&#10;AI-generated content may be incorrect.">
            <a:extLst>
              <a:ext uri="{FF2B5EF4-FFF2-40B4-BE49-F238E27FC236}">
                <a16:creationId xmlns:a16="http://schemas.microsoft.com/office/drawing/2014/main" id="{9178B14D-CA13-479E-6EA4-880A854CDB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7" r="-1" b="14198"/>
          <a:stretch>
            <a:fillRect/>
          </a:stretch>
        </p:blipFill>
        <p:spPr>
          <a:xfrm>
            <a:off x="676442" y="4050640"/>
            <a:ext cx="3414795" cy="1952366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FFAD5E2-1794-F478-3756-324F0418A850}"/>
              </a:ext>
            </a:extLst>
          </p:cNvPr>
          <p:cNvSpPr txBox="1"/>
          <p:nvPr/>
        </p:nvSpPr>
        <p:spPr>
          <a:xfrm>
            <a:off x="1983504" y="3520920"/>
            <a:ext cx="800669" cy="36301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16" name="Picture 15" descr="A graph of a graph&#10;&#10;AI-generated content may be incorrect.">
            <a:extLst>
              <a:ext uri="{FF2B5EF4-FFF2-40B4-BE49-F238E27FC236}">
                <a16:creationId xmlns:a16="http://schemas.microsoft.com/office/drawing/2014/main" id="{A56B5191-BFCF-E389-7EF1-356F32AD77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298"/>
          <a:stretch>
            <a:fillRect/>
          </a:stretch>
        </p:blipFill>
        <p:spPr>
          <a:xfrm>
            <a:off x="8392156" y="4044534"/>
            <a:ext cx="3414795" cy="198244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2623372-15B9-B2D1-058C-251C007A4A32}"/>
              </a:ext>
            </a:extLst>
          </p:cNvPr>
          <p:cNvSpPr txBox="1"/>
          <p:nvPr/>
        </p:nvSpPr>
        <p:spPr>
          <a:xfrm>
            <a:off x="9706727" y="3519053"/>
            <a:ext cx="785651" cy="36488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cs typeface="Arial" panose="020B0604020202020204" pitchFamily="34" charset="0"/>
              </a:rPr>
              <a:t>C</a:t>
            </a:r>
            <a:r>
              <a:rPr lang="en-US" sz="2000" baseline="30000" dirty="0">
                <a:solidFill>
                  <a:schemeClr val="bg1"/>
                </a:solidFill>
                <a:cs typeface="Arial" panose="020B0604020202020204" pitchFamily="34" charset="0"/>
              </a:rPr>
              <a:t>0.5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E6FEEB6-60EC-3D81-6261-EA298E4FF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3936"/>
            <a:ext cx="10806997" cy="1977744"/>
          </a:xfrm>
        </p:spPr>
        <p:txBody>
          <a:bodyPr>
            <a:normAutofit fontScale="85000" lnSpcReduction="20000"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must be positive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issues with shared values, using testing datasets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 transformation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Sqrt transformation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Predictors variable: all +, but untransformed 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focusing on prediction power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12" name="Picture 11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7C1F245A-F44C-E9A5-C698-2220839CA7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96"/>
          <a:stretch>
            <a:fillRect/>
          </a:stretch>
        </p:blipFill>
        <p:spPr>
          <a:xfrm>
            <a:off x="4534299" y="4046142"/>
            <a:ext cx="3414795" cy="1956600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473DE6-DF24-6A9A-A26B-14474AE8AE5E}"/>
                  </a:ext>
                </a:extLst>
              </p:cNvPr>
              <p:cNvSpPr txBox="1"/>
              <p:nvPr/>
            </p:nvSpPr>
            <p:spPr>
              <a:xfrm>
                <a:off x="8778875" y="6058747"/>
                <a:ext cx="25749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18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~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𝑁𝑜𝑟𝑚𝑎𝑙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10</m:t>
                          </m:r>
                          <m:r>
                            <a:rPr lang="en-US" sz="18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,4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473DE6-DF24-6A9A-A26B-14474AE8A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875" y="6058747"/>
                <a:ext cx="2574925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455BEE7-02E6-D200-8EDA-841CE9719495}"/>
              </a:ext>
            </a:extLst>
          </p:cNvPr>
          <p:cNvSpPr/>
          <p:nvPr/>
        </p:nvSpPr>
        <p:spPr>
          <a:xfrm>
            <a:off x="8140700" y="3429000"/>
            <a:ext cx="3947559" cy="3055083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D385A-6AB2-5630-B013-C240F534D65D}"/>
              </a:ext>
            </a:extLst>
          </p:cNvPr>
          <p:cNvSpPr txBox="1"/>
          <p:nvPr/>
        </p:nvSpPr>
        <p:spPr>
          <a:xfrm>
            <a:off x="5710942" y="3524730"/>
            <a:ext cx="106150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cs typeface="Arial" panose="020B0604020202020204" pitchFamily="34" charset="0"/>
              </a:rPr>
              <a:t>log(C)</a:t>
            </a:r>
            <a:endParaRPr lang="en-US" sz="2000" baseline="300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008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0CC34-8E81-BDB2-60C5-D422D358D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7EC4D-5854-8118-6B59-B9C4D7FE5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517" y="478350"/>
            <a:ext cx="10515600" cy="1325563"/>
          </a:xfrm>
        </p:spPr>
        <p:txBody>
          <a:bodyPr/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Linear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quap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with LOGO-CV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034C-57BD-6D89-5931-1D9FD48F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932" y="1622110"/>
            <a:ext cx="7322041" cy="4691062"/>
          </a:xfrm>
        </p:spPr>
        <p:txBody>
          <a:bodyPr>
            <a:normAutofit/>
          </a:bodyPr>
          <a:lstStyle/>
          <a:p>
            <a:pPr>
              <a:buSzPct val="100000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Pseudo-LOGO-CV</a:t>
            </a:r>
          </a:p>
          <a:p>
            <a:pPr lvl="1">
              <a:buSzPct val="100000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Leave-on-group-out cross-validation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All repeated measurements for a plot is considered a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Fits model </a:t>
            </a:r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times (number of groups) </a:t>
            </a:r>
          </a:p>
          <a:p>
            <a:pPr lvl="2"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Not good representation of testing model with new inventory (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many new plots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buSzPct val="100000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90/10 split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In-Bag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Out-Of-Bag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datasets (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common frequentist approach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Split on plot IDs – 9 plots in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OOB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dataset</a:t>
            </a:r>
          </a:p>
          <a:p>
            <a:pPr lvl="2"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Simulates small area estimation</a:t>
            </a:r>
          </a:p>
          <a:p>
            <a:pPr>
              <a:buSzPct val="100000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Wide variability in prediction performance over runs </a:t>
            </a:r>
          </a:p>
          <a:p>
            <a:pPr lvl="1"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R-sq varies drastically – essential to cross-validate</a:t>
            </a:r>
          </a:p>
          <a:p>
            <a:pPr lvl="1"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 practice, use individual model with good predictability</a:t>
            </a:r>
          </a:p>
        </p:txBody>
      </p:sp>
      <p:cxnSp>
        <p:nvCxnSpPr>
          <p:cNvPr id="4" name="Google Shape;106;p13">
            <a:extLst>
              <a:ext uri="{FF2B5EF4-FFF2-40B4-BE49-F238E27FC236}">
                <a16:creationId xmlns:a16="http://schemas.microsoft.com/office/drawing/2014/main" id="{43C66FB8-4511-9C31-6EEC-4DE8D70A16F1}"/>
              </a:ext>
            </a:extLst>
          </p:cNvPr>
          <p:cNvCxnSpPr/>
          <p:nvPr/>
        </p:nvCxnSpPr>
        <p:spPr>
          <a:xfrm>
            <a:off x="0" y="386616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106;p13">
            <a:extLst>
              <a:ext uri="{FF2B5EF4-FFF2-40B4-BE49-F238E27FC236}">
                <a16:creationId xmlns:a16="http://schemas.microsoft.com/office/drawing/2014/main" id="{DD292998-83BC-6EA9-6CAA-C632F21279D7}"/>
              </a:ext>
            </a:extLst>
          </p:cNvPr>
          <p:cNvCxnSpPr/>
          <p:nvPr/>
        </p:nvCxnSpPr>
        <p:spPr>
          <a:xfrm>
            <a:off x="-498929" y="6484084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D85D7D2-E668-CCFA-DF3A-D1E935BF4FB4}"/>
              </a:ext>
            </a:extLst>
          </p:cNvPr>
          <p:cNvGrpSpPr/>
          <p:nvPr/>
        </p:nvGrpSpPr>
        <p:grpSpPr>
          <a:xfrm>
            <a:off x="7994326" y="2321977"/>
            <a:ext cx="3556676" cy="2214045"/>
            <a:chOff x="7994326" y="2321977"/>
            <a:chExt cx="3556676" cy="2214045"/>
          </a:xfrm>
        </p:grpSpPr>
        <p:pic>
          <p:nvPicPr>
            <p:cNvPr id="7" name="Picture 6" descr="A graph with numbers and lines&#10;&#10;AI-generated content may be incorrect.">
              <a:extLst>
                <a:ext uri="{FF2B5EF4-FFF2-40B4-BE49-F238E27FC236}">
                  <a16:creationId xmlns:a16="http://schemas.microsoft.com/office/drawing/2014/main" id="{55CAEE80-1EA1-C1DF-A90E-80DA51701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512"/>
            <a:stretch>
              <a:fillRect/>
            </a:stretch>
          </p:blipFill>
          <p:spPr>
            <a:xfrm>
              <a:off x="7994326" y="2494819"/>
              <a:ext cx="3556676" cy="2041203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0A6C23CE-E2FD-B94D-D33F-BF383193158F}"/>
                </a:ext>
              </a:extLst>
            </p:cNvPr>
            <p:cNvSpPr txBox="1">
              <a:spLocks/>
            </p:cNvSpPr>
            <p:nvPr/>
          </p:nvSpPr>
          <p:spPr>
            <a:xfrm>
              <a:off x="9276827" y="2321977"/>
              <a:ext cx="991674" cy="822411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IB R</a:t>
              </a:r>
              <a:r>
                <a:rPr lang="en-US" sz="2000" i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8143C64-7297-CAA3-EF35-6F4D579EAAA9}"/>
              </a:ext>
            </a:extLst>
          </p:cNvPr>
          <p:cNvGrpSpPr/>
          <p:nvPr/>
        </p:nvGrpSpPr>
        <p:grpSpPr>
          <a:xfrm>
            <a:off x="7994326" y="4459425"/>
            <a:ext cx="3556676" cy="2219240"/>
            <a:chOff x="7861890" y="4426180"/>
            <a:chExt cx="3556676" cy="2219240"/>
          </a:xfrm>
        </p:grpSpPr>
        <p:pic>
          <p:nvPicPr>
            <p:cNvPr id="9" name="Picture 8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E0A0EFB6-37B6-6C8C-EFE8-DC2031F34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4714"/>
            <a:stretch>
              <a:fillRect/>
            </a:stretch>
          </p:blipFill>
          <p:spPr>
            <a:xfrm>
              <a:off x="7861890" y="4558637"/>
              <a:ext cx="3556676" cy="2086783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C6B20541-6092-C4F6-D4EE-1BC4890F21F4}"/>
                </a:ext>
              </a:extLst>
            </p:cNvPr>
            <p:cNvSpPr txBox="1">
              <a:spLocks/>
            </p:cNvSpPr>
            <p:nvPr/>
          </p:nvSpPr>
          <p:spPr>
            <a:xfrm>
              <a:off x="8915791" y="4426180"/>
              <a:ext cx="1448874" cy="8224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OOB R</a:t>
              </a:r>
              <a:r>
                <a:rPr lang="en-US" sz="2000" i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BB54673B-F4B3-AB4B-D055-2C002462EC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59793" y="280221"/>
                <a:ext cx="4216510" cy="216840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buSzPct val="100000"/>
                  <a:buFont typeface="Arial" panose="020B0604020202020204" pitchFamily="34" charset="0"/>
                  <a:buNone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Quap</a:t>
                </a:r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SzPct val="100000"/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radPr>
                        <m:deg/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</m:rad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~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𝑁𝑜𝑟𝑚𝑎𝑙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𝜇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SzPct val="100000"/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𝜇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𝑞𝑚𝑑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𝑏𝑎𝑝h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𝑡𝑝h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</m:oMath>
                  </m:oMathPara>
                </a14:m>
                <a:endParaRPr lang="en-US" sz="16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00000"/>
                  </a:lnSpc>
                  <a:buSzPct val="100000"/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h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h𝑑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𝑠𝑙𝑜𝑝𝑒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𝑎𝑠𝑝𝑒𝑐𝑡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9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𝑠𝑑𝑖</m:t>
                      </m:r>
                    </m:oMath>
                  </m:oMathPara>
                </a14:m>
                <a:endParaRPr lang="en-US" sz="16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00000"/>
                  </a:lnSpc>
                  <a:buSzPct val="100000"/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~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𝑁𝑜𝑟𝑚𝑎𝑙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10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,4</m:t>
                          </m:r>
                        </m:e>
                      </m:d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00000"/>
                  </a:lnSpc>
                  <a:buSzPct val="100000"/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𝜎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~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𝐸𝑥𝑝𝑜𝑛𝑒𝑛𝑡𝑖𝑎𝑙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00000"/>
                  </a:lnSpc>
                  <a:buSzPct val="100000"/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,…,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9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~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𝑁𝑜𝑟𝑚𝑎𝑙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BB54673B-F4B3-AB4B-D055-2C002462E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793" y="280221"/>
                <a:ext cx="4216510" cy="2168403"/>
              </a:xfrm>
              <a:prstGeom prst="rect">
                <a:avLst/>
              </a:prstGeom>
              <a:blipFill>
                <a:blip r:embed="rId4"/>
                <a:stretch>
                  <a:fillRect t="-838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0247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CE25E-D2F1-958F-F18F-18DF5928E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A6AAB-CE78-5676-4FC6-6992026F8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0338"/>
            <a:ext cx="10515600" cy="1325563"/>
          </a:xfrm>
        </p:spPr>
        <p:txBody>
          <a:bodyPr/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Mixed-MCMC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11CD7-939C-C4F0-D9BD-DE98A5290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518"/>
            <a:ext cx="6757450" cy="4691062"/>
          </a:xfrm>
        </p:spPr>
        <p:txBody>
          <a:bodyPr>
            <a:normAutofit/>
          </a:bodyPr>
          <a:lstStyle/>
          <a:p>
            <a:pPr>
              <a:buSzPct val="100000"/>
            </a:pP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Mixed-effect model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SzPct val="100000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Random effect on forest type</a:t>
            </a:r>
          </a:p>
          <a:p>
            <a:pPr lvl="2">
              <a:buSzPct val="1000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Amount of C in a tree is species-dependent, based on tree form, specific density, and growth rates</a:t>
            </a:r>
          </a:p>
          <a:p>
            <a:pPr lvl="2">
              <a:buSzPct val="1000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Provides a global model with flexibility for different species compositions</a:t>
            </a:r>
          </a:p>
          <a:p>
            <a:pPr lvl="1">
              <a:buSzPct val="100000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13 forest types present</a:t>
            </a:r>
          </a:p>
          <a:p>
            <a:pPr lvl="1">
              <a:buSzPct val="100000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High multicollinearity between variables justifies simplified model</a:t>
            </a:r>
          </a:p>
          <a:p>
            <a:pPr>
              <a:buSzPct val="100000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Same 90/10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IB-OOB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data splitting as previous model</a:t>
            </a:r>
          </a:p>
        </p:txBody>
      </p:sp>
      <p:cxnSp>
        <p:nvCxnSpPr>
          <p:cNvPr id="4" name="Google Shape;106;p13">
            <a:extLst>
              <a:ext uri="{FF2B5EF4-FFF2-40B4-BE49-F238E27FC236}">
                <a16:creationId xmlns:a16="http://schemas.microsoft.com/office/drawing/2014/main" id="{54938AF3-DC84-B75B-4A13-53570EADFCBE}"/>
              </a:ext>
            </a:extLst>
          </p:cNvPr>
          <p:cNvCxnSpPr/>
          <p:nvPr/>
        </p:nvCxnSpPr>
        <p:spPr>
          <a:xfrm>
            <a:off x="0" y="386616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106;p13">
            <a:extLst>
              <a:ext uri="{FF2B5EF4-FFF2-40B4-BE49-F238E27FC236}">
                <a16:creationId xmlns:a16="http://schemas.microsoft.com/office/drawing/2014/main" id="{06958699-788F-4C79-40B6-60B7B0BF0C54}"/>
              </a:ext>
            </a:extLst>
          </p:cNvPr>
          <p:cNvCxnSpPr/>
          <p:nvPr/>
        </p:nvCxnSpPr>
        <p:spPr>
          <a:xfrm>
            <a:off x="-498929" y="6484084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Content Placeholder 2">
                <a:extLst>
                  <a:ext uri="{FF2B5EF4-FFF2-40B4-BE49-F238E27FC236}">
                    <a16:creationId xmlns:a16="http://schemas.microsoft.com/office/drawing/2014/main" id="{04CFD5C8-2EB1-C9F1-31AC-FD88606158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99447" y="323778"/>
                <a:ext cx="3235162" cy="230498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/>
                </a:solidFill>
              </a:ln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SzPct val="100000"/>
                  <a:buFont typeface="Arial" panose="020B0604020202020204" pitchFamily="34" charset="0"/>
                  <a:buNone/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Mixed MCMC</a:t>
                </a:r>
                <a:endParaRPr lang="en-U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SzPct val="100000"/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radPr>
                        <m:deg/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</m:rad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𝑁𝑜𝑟𝑚𝑎𝑙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𝜇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SzPct val="100000"/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𝜇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</m:t>
                          </m:r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j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h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SzPct val="100000"/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𝑁𝑜𝑟𝑚𝑎𝑙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,4</m:t>
                          </m:r>
                        </m:e>
                      </m:d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SzPct val="10000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</m:t>
                          </m:r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j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𝑁𝑜𝑟𝑚𝑎𝑙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SzPct val="100000"/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𝜎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~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𝐸𝑥𝑝𝑜𝑛𝑒𝑛𝑡𝑖𝑎𝑙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SzPct val="100000"/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𝑁𝑜𝑟𝑚𝑎𝑙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SzPct val="100000"/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𝛾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𝐸𝑥𝑝𝑜𝑛𝑒𝑛𝑡𝑖𝑎𝑙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SzPct val="100000"/>
                  <a:buFont typeface="Arial" panose="020B0604020202020204" pitchFamily="34" charset="0"/>
                  <a:buNone/>
                </a:pPr>
                <a:endParaRPr lang="en-US" sz="20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SzPct val="100000"/>
                  <a:buFont typeface="Arial" panose="020B0604020202020204" pitchFamily="34" charset="0"/>
                  <a:buNone/>
                </a:pPr>
                <a:endParaRPr lang="en-US" sz="20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SzPct val="100000"/>
                  <a:buFont typeface="Arial" panose="020B0604020202020204" pitchFamily="34" charset="0"/>
                  <a:buNone/>
                </a:pPr>
                <a:endParaRPr lang="en-US" sz="20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SzPct val="100000"/>
                  <a:buFont typeface="Arial" panose="020B0604020202020204" pitchFamily="34" charset="0"/>
                  <a:buNone/>
                </a:pPr>
                <a:endParaRPr lang="en-US" sz="20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SzPct val="100000"/>
                  <a:buFont typeface="Arial" panose="020B0604020202020204" pitchFamily="34" charset="0"/>
                  <a:buNone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SzPct val="100000"/>
                  <a:buFont typeface="Arial" panose="020B0604020202020204" pitchFamily="34" charset="0"/>
                  <a:buNone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SzPct val="100000"/>
                  <a:buFont typeface="Arial" panose="020B0604020202020204" pitchFamily="34" charset="0"/>
                  <a:buNone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SzPct val="100000"/>
                  <a:buFont typeface="Arial" panose="020B0604020202020204" pitchFamily="34" charset="0"/>
                  <a:buNone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SzPct val="100000"/>
                  <a:buFont typeface="Arial" panose="020B0604020202020204" pitchFamily="34" charset="0"/>
                  <a:buNone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SzPct val="100000"/>
                  <a:buFont typeface="Arial" panose="020B0604020202020204" pitchFamily="34" charset="0"/>
                  <a:buNone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SzPct val="100000"/>
                  <a:buFont typeface="Arial" panose="020B0604020202020204" pitchFamily="34" charset="0"/>
                  <a:buNone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SzPct val="100000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3" name="Content Placeholder 2">
                <a:extLst>
                  <a:ext uri="{FF2B5EF4-FFF2-40B4-BE49-F238E27FC236}">
                    <a16:creationId xmlns:a16="http://schemas.microsoft.com/office/drawing/2014/main" id="{04CFD5C8-2EB1-C9F1-31AC-FD8860615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447" y="323778"/>
                <a:ext cx="3235162" cy="2304986"/>
              </a:xfrm>
              <a:prstGeom prst="rect">
                <a:avLst/>
              </a:prstGeom>
              <a:blipFill>
                <a:blip r:embed="rId3"/>
                <a:stretch>
                  <a:fillRect t="-2895" b="-2105"/>
                </a:stretch>
              </a:blipFill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AAB420-1290-7A1C-22F3-C62ED267970D}"/>
                  </a:ext>
                </a:extLst>
              </p:cNvPr>
              <p:cNvSpPr txBox="1"/>
              <p:nvPr/>
            </p:nvSpPr>
            <p:spPr>
              <a:xfrm>
                <a:off x="6641646" y="1003010"/>
                <a:ext cx="20034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forest-type random effect</a:t>
                </a: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AAB420-1290-7A1C-22F3-C62ED2679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646" y="1003010"/>
                <a:ext cx="2003425" cy="646331"/>
              </a:xfrm>
              <a:prstGeom prst="rect">
                <a:avLst/>
              </a:prstGeom>
              <a:blipFill>
                <a:blip r:embed="rId4"/>
                <a:stretch>
                  <a:fillRect l="-2744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7B186DDC-7163-A57A-0C74-87A2813AA0F4}"/>
              </a:ext>
            </a:extLst>
          </p:cNvPr>
          <p:cNvGrpSpPr/>
          <p:nvPr/>
        </p:nvGrpSpPr>
        <p:grpSpPr>
          <a:xfrm>
            <a:off x="8118637" y="2691602"/>
            <a:ext cx="3396782" cy="3906121"/>
            <a:chOff x="7302500" y="1264131"/>
            <a:chExt cx="3477110" cy="4102416"/>
          </a:xfrm>
        </p:grpSpPr>
        <p:pic>
          <p:nvPicPr>
            <p:cNvPr id="57" name="Picture 56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9D65BC66-0F8F-2949-53F2-CFCBBCD95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342" b="-1"/>
            <a:stretch>
              <a:fillRect/>
            </a:stretch>
          </p:blipFill>
          <p:spPr>
            <a:xfrm>
              <a:off x="7312030" y="2679824"/>
              <a:ext cx="3439005" cy="2686723"/>
            </a:xfrm>
            <a:prstGeom prst="rect">
              <a:avLst/>
            </a:prstGeom>
          </p:spPr>
        </p:pic>
        <p:pic>
          <p:nvPicPr>
            <p:cNvPr id="58" name="Picture 57" descr="A group of black text&#10;&#10;AI-generated content may be incorrect.">
              <a:extLst>
                <a:ext uri="{FF2B5EF4-FFF2-40B4-BE49-F238E27FC236}">
                  <a16:creationId xmlns:a16="http://schemas.microsoft.com/office/drawing/2014/main" id="{2E402BF9-B89D-3CA1-E60D-CC68FBDE2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739" r="1"/>
            <a:stretch>
              <a:fillRect/>
            </a:stretch>
          </p:blipFill>
          <p:spPr>
            <a:xfrm>
              <a:off x="7324725" y="1536664"/>
              <a:ext cx="3404080" cy="1143160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36E73C04-0CE4-4801-FEE5-BEF3D2404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02500" y="1264131"/>
              <a:ext cx="3477110" cy="2857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24519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617A0-C46E-83CE-F187-1C2E87106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A2A9-9B06-8A1C-E49B-EFC445A6A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0338"/>
            <a:ext cx="10515600" cy="1325563"/>
          </a:xfrm>
        </p:spPr>
        <p:txBody>
          <a:bodyPr/>
          <a:lstStyle/>
          <a:p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Quap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15984-C3BC-759E-A663-F1294308A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197123"/>
            <a:ext cx="4229100" cy="574759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Overall excellent predictions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Google Shape;106;p13">
            <a:extLst>
              <a:ext uri="{FF2B5EF4-FFF2-40B4-BE49-F238E27FC236}">
                <a16:creationId xmlns:a16="http://schemas.microsoft.com/office/drawing/2014/main" id="{F4F4B66F-3618-2B89-0303-E314402116A9}"/>
              </a:ext>
            </a:extLst>
          </p:cNvPr>
          <p:cNvCxnSpPr/>
          <p:nvPr/>
        </p:nvCxnSpPr>
        <p:spPr>
          <a:xfrm>
            <a:off x="0" y="386616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106;p13">
            <a:extLst>
              <a:ext uri="{FF2B5EF4-FFF2-40B4-BE49-F238E27FC236}">
                <a16:creationId xmlns:a16="http://schemas.microsoft.com/office/drawing/2014/main" id="{924443CB-7865-E07C-5D3C-C8A833104A15}"/>
              </a:ext>
            </a:extLst>
          </p:cNvPr>
          <p:cNvCxnSpPr/>
          <p:nvPr/>
        </p:nvCxnSpPr>
        <p:spPr>
          <a:xfrm>
            <a:off x="-498929" y="6484084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45177ACE-344F-0A1E-7C72-8346CAA34C45}"/>
              </a:ext>
            </a:extLst>
          </p:cNvPr>
          <p:cNvGrpSpPr/>
          <p:nvPr/>
        </p:nvGrpSpPr>
        <p:grpSpPr>
          <a:xfrm>
            <a:off x="508590" y="1960366"/>
            <a:ext cx="3556676" cy="2214045"/>
            <a:chOff x="7861890" y="2310187"/>
            <a:chExt cx="3556676" cy="2214045"/>
          </a:xfrm>
        </p:grpSpPr>
        <p:pic>
          <p:nvPicPr>
            <p:cNvPr id="7" name="Picture 6" descr="A graph with numbers and lines&#10;&#10;AI-generated content may be incorrect.">
              <a:extLst>
                <a:ext uri="{FF2B5EF4-FFF2-40B4-BE49-F238E27FC236}">
                  <a16:creationId xmlns:a16="http://schemas.microsoft.com/office/drawing/2014/main" id="{03AA4187-3E20-B348-20DD-34604C922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512"/>
            <a:stretch>
              <a:fillRect/>
            </a:stretch>
          </p:blipFill>
          <p:spPr>
            <a:xfrm>
              <a:off x="7861890" y="2483029"/>
              <a:ext cx="3556676" cy="2041203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81537B9-4BA9-18FF-D2E8-7C8184B67AFC}"/>
                </a:ext>
              </a:extLst>
            </p:cNvPr>
            <p:cNvSpPr txBox="1">
              <a:spLocks/>
            </p:cNvSpPr>
            <p:nvPr/>
          </p:nvSpPr>
          <p:spPr>
            <a:xfrm>
              <a:off x="9144391" y="2310187"/>
              <a:ext cx="991674" cy="8224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IB R</a:t>
              </a:r>
              <a:r>
                <a:rPr lang="en-US" sz="2000" i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56406DF-E8D2-B387-828F-9BDA1B31BF50}"/>
              </a:ext>
            </a:extLst>
          </p:cNvPr>
          <p:cNvGrpSpPr/>
          <p:nvPr/>
        </p:nvGrpSpPr>
        <p:grpSpPr>
          <a:xfrm>
            <a:off x="508590" y="4076359"/>
            <a:ext cx="3556676" cy="2219240"/>
            <a:chOff x="7861890" y="4426180"/>
            <a:chExt cx="3556676" cy="2219240"/>
          </a:xfrm>
        </p:grpSpPr>
        <p:pic>
          <p:nvPicPr>
            <p:cNvPr id="10" name="Picture 9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48641550-96B8-AC8B-EC70-3AA501436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4714"/>
            <a:stretch>
              <a:fillRect/>
            </a:stretch>
          </p:blipFill>
          <p:spPr>
            <a:xfrm>
              <a:off x="7861890" y="4558637"/>
              <a:ext cx="3556676" cy="2086783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121234C0-2994-E8E7-1B24-6CE41BCF75FF}"/>
                </a:ext>
              </a:extLst>
            </p:cNvPr>
            <p:cNvSpPr txBox="1">
              <a:spLocks/>
            </p:cNvSpPr>
            <p:nvPr/>
          </p:nvSpPr>
          <p:spPr>
            <a:xfrm>
              <a:off x="8915791" y="4426180"/>
              <a:ext cx="1448874" cy="8224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OOB R</a:t>
              </a:r>
              <a:r>
                <a:rPr lang="en-US" sz="2000" i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422BFF-94B0-A2DF-7F64-8D22603865A9}"/>
              </a:ext>
            </a:extLst>
          </p:cNvPr>
          <p:cNvSpPr txBox="1">
            <a:spLocks/>
          </p:cNvSpPr>
          <p:nvPr/>
        </p:nvSpPr>
        <p:spPr>
          <a:xfrm>
            <a:off x="172378" y="1771881"/>
            <a:ext cx="4229100" cy="574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SzPct val="100000"/>
              <a:buFont typeface="Arial" panose="020B0604020202020204" pitchFamily="34" charset="0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Median R</a:t>
            </a:r>
            <a:r>
              <a:rPr lang="en-U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from CV-approach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032745-5120-33EB-12A2-D781CCC3C937}"/>
              </a:ext>
            </a:extLst>
          </p:cNvPr>
          <p:cNvSpPr txBox="1">
            <a:spLocks/>
          </p:cNvSpPr>
          <p:nvPr/>
        </p:nvSpPr>
        <p:spPr>
          <a:xfrm>
            <a:off x="4914900" y="830436"/>
            <a:ext cx="6768510" cy="151620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Model sometimes doesn’t converge – error handling required</a:t>
            </a:r>
          </a:p>
          <a:p>
            <a:pPr>
              <a:buSzPct val="100000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Users need to make sure model used is sufficient</a:t>
            </a:r>
          </a:p>
          <a:p>
            <a:pPr>
              <a:buSzPct val="100000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a “good model”: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A7C64D7-E2BF-2E5F-1408-6429B5F44670}"/>
              </a:ext>
            </a:extLst>
          </p:cNvPr>
          <p:cNvGrpSpPr/>
          <p:nvPr/>
        </p:nvGrpSpPr>
        <p:grpSpPr>
          <a:xfrm>
            <a:off x="5011626" y="2795136"/>
            <a:ext cx="3115110" cy="2274302"/>
            <a:chOff x="5011626" y="2795136"/>
            <a:chExt cx="3115110" cy="2274302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EBFA99D6-1E68-04CF-F88A-9DB62849B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11626" y="4859859"/>
              <a:ext cx="3115110" cy="209579"/>
            </a:xfrm>
            <a:prstGeom prst="rect">
              <a:avLst/>
            </a:prstGeom>
          </p:spPr>
        </p:pic>
        <p:pic>
          <p:nvPicPr>
            <p:cNvPr id="17" name="Picture 16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53EDF7D1-D21E-A7C3-B904-88204BEBC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11626" y="2795136"/>
              <a:ext cx="3115110" cy="2114845"/>
            </a:xfrm>
            <a:prstGeom prst="rect">
              <a:avLst/>
            </a:prstGeom>
          </p:spPr>
        </p:pic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EAA02AA-2C37-B499-6550-3204F7EFB1D3}"/>
              </a:ext>
            </a:extLst>
          </p:cNvPr>
          <p:cNvSpPr txBox="1">
            <a:spLocks/>
          </p:cNvSpPr>
          <p:nvPr/>
        </p:nvSpPr>
        <p:spPr>
          <a:xfrm>
            <a:off x="4454631" y="5098466"/>
            <a:ext cx="4229100" cy="944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SzPct val="100000"/>
              <a:buFont typeface="Arial" panose="020B0604020202020204" pitchFamily="34" charset="0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Do not really interpret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coeff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ctr">
              <a:buSzPct val="100000"/>
              <a:buFont typeface="Arial" panose="020B0604020202020204" pitchFamily="34" charset="0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Focus is predictive power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0A0C448-38CF-1BE4-B845-BC1D6E3E18B6}"/>
              </a:ext>
            </a:extLst>
          </p:cNvPr>
          <p:cNvGrpSpPr/>
          <p:nvPr/>
        </p:nvGrpSpPr>
        <p:grpSpPr>
          <a:xfrm>
            <a:off x="8283239" y="1779786"/>
            <a:ext cx="3400171" cy="2259282"/>
            <a:chOff x="8283239" y="1779786"/>
            <a:chExt cx="3400171" cy="2259282"/>
          </a:xfrm>
        </p:grpSpPr>
        <p:pic>
          <p:nvPicPr>
            <p:cNvPr id="21" name="Picture 20" descr="A graph of a number of columns&#10;&#10;AI-generated content may be incorrect.">
              <a:extLst>
                <a:ext uri="{FF2B5EF4-FFF2-40B4-BE49-F238E27FC236}">
                  <a16:creationId xmlns:a16="http://schemas.microsoft.com/office/drawing/2014/main" id="{6454212C-0489-5F28-C569-01BA02574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83239" y="1997865"/>
              <a:ext cx="3400171" cy="2041203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10B3BA9E-19BB-CB32-40D1-D3A8D0A6D552}"/>
                </a:ext>
              </a:extLst>
            </p:cNvPr>
            <p:cNvSpPr txBox="1">
              <a:spLocks/>
            </p:cNvSpPr>
            <p:nvPr/>
          </p:nvSpPr>
          <p:spPr>
            <a:xfrm>
              <a:off x="9487487" y="1779786"/>
              <a:ext cx="991674" cy="8224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IB R</a:t>
              </a:r>
              <a:r>
                <a:rPr lang="en-US" sz="2000" i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76F0AC7-05C3-351A-9362-7DA6571EACBD}"/>
              </a:ext>
            </a:extLst>
          </p:cNvPr>
          <p:cNvGrpSpPr/>
          <p:nvPr/>
        </p:nvGrpSpPr>
        <p:grpSpPr>
          <a:xfrm>
            <a:off x="8283240" y="3930917"/>
            <a:ext cx="3400306" cy="2232593"/>
            <a:chOff x="8283240" y="3930917"/>
            <a:chExt cx="3400306" cy="2232593"/>
          </a:xfrm>
        </p:grpSpPr>
        <p:pic>
          <p:nvPicPr>
            <p:cNvPr id="28" name="Picture 27" descr="A graph of a graph&#10;&#10;AI-generated content may be incorrect.">
              <a:extLst>
                <a:ext uri="{FF2B5EF4-FFF2-40B4-BE49-F238E27FC236}">
                  <a16:creationId xmlns:a16="http://schemas.microsoft.com/office/drawing/2014/main" id="{EC108662-96DF-802A-9D0A-8BF4B685D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1014" b="1"/>
            <a:stretch>
              <a:fillRect/>
            </a:stretch>
          </p:blipFill>
          <p:spPr>
            <a:xfrm>
              <a:off x="8283240" y="4122308"/>
              <a:ext cx="3400306" cy="2041202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25" name="Title 1">
              <a:extLst>
                <a:ext uri="{FF2B5EF4-FFF2-40B4-BE49-F238E27FC236}">
                  <a16:creationId xmlns:a16="http://schemas.microsoft.com/office/drawing/2014/main" id="{9FC3DC1B-5819-7ED5-79B7-48B654EDBD89}"/>
                </a:ext>
              </a:extLst>
            </p:cNvPr>
            <p:cNvSpPr txBox="1">
              <a:spLocks/>
            </p:cNvSpPr>
            <p:nvPr/>
          </p:nvSpPr>
          <p:spPr>
            <a:xfrm>
              <a:off x="9258887" y="3930917"/>
              <a:ext cx="1448874" cy="8224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OOB R</a:t>
              </a:r>
              <a:r>
                <a:rPr lang="en-US" sz="2000" i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31" name="Google Shape;106;p13">
            <a:extLst>
              <a:ext uri="{FF2B5EF4-FFF2-40B4-BE49-F238E27FC236}">
                <a16:creationId xmlns:a16="http://schemas.microsoft.com/office/drawing/2014/main" id="{6CE4A603-6379-99BD-D947-8751768DF5F5}"/>
              </a:ext>
            </a:extLst>
          </p:cNvPr>
          <p:cNvCxnSpPr>
            <a:cxnSpLocks/>
          </p:cNvCxnSpPr>
          <p:nvPr/>
        </p:nvCxnSpPr>
        <p:spPr>
          <a:xfrm flipV="1">
            <a:off x="4613729" y="830436"/>
            <a:ext cx="0" cy="548066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028874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74761-EEFE-2FA7-D490-ED0E11A02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186C2-897A-9EBB-763A-3EB76BE81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0338"/>
            <a:ext cx="10515600" cy="1325563"/>
          </a:xfrm>
        </p:spPr>
        <p:txBody>
          <a:bodyPr/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Mixed-MCMC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CC6A3-463E-F451-B63B-1844B9A88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518"/>
            <a:ext cx="6757450" cy="4691062"/>
          </a:xfrm>
        </p:spPr>
        <p:txBody>
          <a:bodyPr>
            <a:normAutofit/>
          </a:bodyPr>
          <a:lstStyle/>
          <a:p>
            <a:pPr>
              <a:buSzPct val="100000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Posterior validation checks look good </a:t>
            </a:r>
          </a:p>
          <a:p>
            <a:pPr>
              <a:buSzPct val="100000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Trace and rank plots: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appropriately fuzzy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SzPct val="100000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Google Shape;106;p13">
            <a:extLst>
              <a:ext uri="{FF2B5EF4-FFF2-40B4-BE49-F238E27FC236}">
                <a16:creationId xmlns:a16="http://schemas.microsoft.com/office/drawing/2014/main" id="{E1FDB4D7-CC0F-BB4D-032C-550D424E0892}"/>
              </a:ext>
            </a:extLst>
          </p:cNvPr>
          <p:cNvCxnSpPr/>
          <p:nvPr/>
        </p:nvCxnSpPr>
        <p:spPr>
          <a:xfrm>
            <a:off x="0" y="386616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106;p13">
            <a:extLst>
              <a:ext uri="{FF2B5EF4-FFF2-40B4-BE49-F238E27FC236}">
                <a16:creationId xmlns:a16="http://schemas.microsoft.com/office/drawing/2014/main" id="{24932D56-9570-7351-9B3E-376FF2A8BED9}"/>
              </a:ext>
            </a:extLst>
          </p:cNvPr>
          <p:cNvCxnSpPr/>
          <p:nvPr/>
        </p:nvCxnSpPr>
        <p:spPr>
          <a:xfrm>
            <a:off x="-498929" y="6484084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Picture 19" descr="A graph of a graph&#10;&#10;AI-generated content may be incorrect.">
            <a:extLst>
              <a:ext uri="{FF2B5EF4-FFF2-40B4-BE49-F238E27FC236}">
                <a16:creationId xmlns:a16="http://schemas.microsoft.com/office/drawing/2014/main" id="{363E939E-85F9-680B-7CBD-522986036B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6" t="2443" r="1616"/>
          <a:stretch>
            <a:fillRect/>
          </a:stretch>
        </p:blipFill>
        <p:spPr>
          <a:xfrm>
            <a:off x="8476567" y="2528848"/>
            <a:ext cx="3418794" cy="210788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2" name="Picture 21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50EA031-EE0B-C9C3-FCE4-A12AE2F9D2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43" t="2012"/>
          <a:stretch>
            <a:fillRect/>
          </a:stretch>
        </p:blipFill>
        <p:spPr>
          <a:xfrm>
            <a:off x="8612711" y="4330642"/>
            <a:ext cx="3418793" cy="210511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BFABB13B-16D5-6E04-A09A-C511B1EBD6C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471328" y="4483802"/>
            <a:ext cx="961638" cy="467636"/>
          </a:xfrm>
          <a:prstGeom prst="curvedConnector3">
            <a:avLst>
              <a:gd name="adj1" fmla="val -3077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AC3F0569-A9F1-BAF0-68C1-D53B1CDAB4A9}"/>
              </a:ext>
            </a:extLst>
          </p:cNvPr>
          <p:cNvSpPr txBox="1">
            <a:spLocks/>
          </p:cNvSpPr>
          <p:nvPr/>
        </p:nvSpPr>
        <p:spPr>
          <a:xfrm>
            <a:off x="9051233" y="4515053"/>
            <a:ext cx="2208875" cy="4345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00000"/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back-transformed to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cpa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2" name="Picture 51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92FE2335-7726-DEC0-C0B7-4BB66A6B61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977" y="2166785"/>
            <a:ext cx="5235210" cy="151545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FBF0B3-13D4-F973-8E46-771C2C96C9AF}"/>
              </a:ext>
            </a:extLst>
          </p:cNvPr>
          <p:cNvSpPr txBox="1">
            <a:spLocks/>
          </p:cNvSpPr>
          <p:nvPr/>
        </p:nvSpPr>
        <p:spPr>
          <a:xfrm>
            <a:off x="8755208" y="3172747"/>
            <a:ext cx="1891783" cy="2959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00000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Sqrt(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cpa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Google Shape;106;p13">
            <a:extLst>
              <a:ext uri="{FF2B5EF4-FFF2-40B4-BE49-F238E27FC236}">
                <a16:creationId xmlns:a16="http://schemas.microsoft.com/office/drawing/2014/main" id="{663ED72B-38C8-EA62-2863-BB603197D0DD}"/>
              </a:ext>
            </a:extLst>
          </p:cNvPr>
          <p:cNvCxnSpPr>
            <a:cxnSpLocks/>
          </p:cNvCxnSpPr>
          <p:nvPr/>
        </p:nvCxnSpPr>
        <p:spPr>
          <a:xfrm flipV="1">
            <a:off x="8104180" y="688670"/>
            <a:ext cx="0" cy="548066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4302FD4-3E34-6FCB-162B-294C0188C926}"/>
              </a:ext>
            </a:extLst>
          </p:cNvPr>
          <p:cNvSpPr txBox="1">
            <a:spLocks/>
          </p:cNvSpPr>
          <p:nvPr/>
        </p:nvSpPr>
        <p:spPr>
          <a:xfrm>
            <a:off x="8337369" y="475672"/>
            <a:ext cx="3579289" cy="436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SzPct val="100000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Random effect on forest type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screen shot of numbers&#10;&#10;AI-generated content may be incorrect.">
            <a:extLst>
              <a:ext uri="{FF2B5EF4-FFF2-40B4-BE49-F238E27FC236}">
                <a16:creationId xmlns:a16="http://schemas.microsoft.com/office/drawing/2014/main" id="{77AEF85C-FC93-9AD2-2D88-794696EB70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9905" y="807223"/>
            <a:ext cx="3334215" cy="1981477"/>
          </a:xfrm>
          <a:prstGeom prst="rect">
            <a:avLst/>
          </a:prstGeom>
        </p:spPr>
      </p:pic>
      <p:pic>
        <p:nvPicPr>
          <p:cNvPr id="14" name="Picture 13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8CC722F0-913C-53B0-CBCE-217C516D52F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61" b="1580"/>
          <a:stretch>
            <a:fillRect/>
          </a:stretch>
        </p:blipFill>
        <p:spPr>
          <a:xfrm>
            <a:off x="296639" y="3936508"/>
            <a:ext cx="3885054" cy="239019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6" name="Picture 15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17AAEA85-CF1C-FB27-B0D8-E3FAB971C4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9429" y="3933550"/>
            <a:ext cx="3885053" cy="239032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B101059C-0BAF-C873-DF1C-BB0219E845D7}"/>
              </a:ext>
            </a:extLst>
          </p:cNvPr>
          <p:cNvSpPr txBox="1">
            <a:spLocks/>
          </p:cNvSpPr>
          <p:nvPr/>
        </p:nvSpPr>
        <p:spPr>
          <a:xfrm>
            <a:off x="6294925" y="3813981"/>
            <a:ext cx="1448874" cy="8224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OOB R</a:t>
            </a:r>
            <a:r>
              <a:rPr lang="en-US" sz="20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1151B60-9E56-7C3C-02E2-572D1F273854}"/>
              </a:ext>
            </a:extLst>
          </p:cNvPr>
          <p:cNvSpPr txBox="1">
            <a:spLocks/>
          </p:cNvSpPr>
          <p:nvPr/>
        </p:nvSpPr>
        <p:spPr>
          <a:xfrm>
            <a:off x="2459739" y="3823685"/>
            <a:ext cx="1448874" cy="8224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IB R</a:t>
            </a:r>
            <a:r>
              <a:rPr lang="en-US" sz="20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32992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F5AFC-B6C2-CCD5-7195-18AA6DAFC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D6693-43A2-2FF5-0D48-5B419BF26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457099"/>
            <a:ext cx="10628085" cy="1325563"/>
          </a:xfrm>
        </p:spPr>
        <p:txBody>
          <a:bodyPr/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Model Comparison</a:t>
            </a:r>
          </a:p>
        </p:txBody>
      </p:sp>
      <p:cxnSp>
        <p:nvCxnSpPr>
          <p:cNvPr id="4" name="Google Shape;106;p13">
            <a:extLst>
              <a:ext uri="{FF2B5EF4-FFF2-40B4-BE49-F238E27FC236}">
                <a16:creationId xmlns:a16="http://schemas.microsoft.com/office/drawing/2014/main" id="{11973F4B-3C96-A0E6-103C-E28D124B1993}"/>
              </a:ext>
            </a:extLst>
          </p:cNvPr>
          <p:cNvCxnSpPr/>
          <p:nvPr/>
        </p:nvCxnSpPr>
        <p:spPr>
          <a:xfrm>
            <a:off x="0" y="386616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106;p13">
            <a:extLst>
              <a:ext uri="{FF2B5EF4-FFF2-40B4-BE49-F238E27FC236}">
                <a16:creationId xmlns:a16="http://schemas.microsoft.com/office/drawing/2014/main" id="{4CBF1AE1-F7B2-8A91-ED74-5F76219BCBE5}"/>
              </a:ext>
            </a:extLst>
          </p:cNvPr>
          <p:cNvCxnSpPr/>
          <p:nvPr/>
        </p:nvCxnSpPr>
        <p:spPr>
          <a:xfrm>
            <a:off x="-498929" y="6484084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000338-2266-3A38-E03B-F4F324554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4185908"/>
            <a:ext cx="10515599" cy="1861673"/>
          </a:xfrm>
        </p:spPr>
        <p:txBody>
          <a:bodyPr>
            <a:normAutofit/>
          </a:bodyPr>
          <a:lstStyle/>
          <a:p>
            <a:pPr>
              <a:buSzPct val="100000"/>
            </a:pP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Quap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model performed better than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MCMC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frequentist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SzPct val="1000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Despite wide variability of performance between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quap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model runs</a:t>
            </a:r>
          </a:p>
          <a:p>
            <a:pPr>
              <a:buSzPct val="100000"/>
            </a:pP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MCMC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have more predictors added after handling multicollinearity – should increase predictive power</a:t>
            </a:r>
          </a:p>
          <a:p>
            <a:pPr>
              <a:buSzPct val="100000"/>
            </a:pP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5410C97-FCC2-9721-7950-E977BD5DC0D3}"/>
              </a:ext>
            </a:extLst>
          </p:cNvPr>
          <p:cNvGrpSpPr/>
          <p:nvPr/>
        </p:nvGrpSpPr>
        <p:grpSpPr>
          <a:xfrm>
            <a:off x="1365093" y="1943079"/>
            <a:ext cx="9845046" cy="1194487"/>
            <a:chOff x="2191657" y="2237350"/>
            <a:chExt cx="9845046" cy="119448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B105314-E106-7CF3-126A-78D8C2FE6007}"/>
                </a:ext>
              </a:extLst>
            </p:cNvPr>
            <p:cNvGrpSpPr/>
            <p:nvPr/>
          </p:nvGrpSpPr>
          <p:grpSpPr>
            <a:xfrm>
              <a:off x="2191657" y="2237350"/>
              <a:ext cx="9845046" cy="1194487"/>
              <a:chOff x="3503291" y="2628166"/>
              <a:chExt cx="8170555" cy="826976"/>
            </a:xfrm>
          </p:grpSpPr>
          <p:pic>
            <p:nvPicPr>
              <p:cNvPr id="11" name="Picture 10" descr="A screenshot of a computer screen&#10;&#10;AI-generated content may be incorrect.">
                <a:extLst>
                  <a:ext uri="{FF2B5EF4-FFF2-40B4-BE49-F238E27FC236}">
                    <a16:creationId xmlns:a16="http://schemas.microsoft.com/office/drawing/2014/main" id="{1F7D1EB6-2292-8C96-1B90-EAF5D0C3BB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01208" y="2702562"/>
                <a:ext cx="4572638" cy="752580"/>
              </a:xfrm>
              <a:prstGeom prst="rect">
                <a:avLst/>
              </a:prstGeom>
            </p:spPr>
          </p:pic>
          <p:pic>
            <p:nvPicPr>
              <p:cNvPr id="9" name="Picture 8" descr="A screenshot of a computer&#10;&#10;AI-generated content may be incorrect.">
                <a:extLst>
                  <a:ext uri="{FF2B5EF4-FFF2-40B4-BE49-F238E27FC236}">
                    <a16:creationId xmlns:a16="http://schemas.microsoft.com/office/drawing/2014/main" id="{26472BD2-67A0-45EE-8B8F-7B5CE979CF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03291" y="2702562"/>
                <a:ext cx="4601217" cy="752580"/>
              </a:xfrm>
              <a:prstGeom prst="rect">
                <a:avLst/>
              </a:prstGeom>
            </p:spPr>
          </p:pic>
          <p:cxnSp>
            <p:nvCxnSpPr>
              <p:cNvPr id="12" name="Google Shape;106;p13">
                <a:extLst>
                  <a:ext uri="{FF2B5EF4-FFF2-40B4-BE49-F238E27FC236}">
                    <a16:creationId xmlns:a16="http://schemas.microsoft.com/office/drawing/2014/main" id="{714245A2-DB6A-E879-BCDD-80B831A8EB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86778" y="2628166"/>
                <a:ext cx="0" cy="800834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bg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" name="Google Shape;106;p13">
                <a:extLst>
                  <a:ext uri="{FF2B5EF4-FFF2-40B4-BE49-F238E27FC236}">
                    <a16:creationId xmlns:a16="http://schemas.microsoft.com/office/drawing/2014/main" id="{83900A13-7FFB-CAEB-CDC4-272EC989ED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36435" y="2628166"/>
                <a:ext cx="0" cy="800834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bg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16" name="Content Placeholder 6">
              <a:extLst>
                <a:ext uri="{FF2B5EF4-FFF2-40B4-BE49-F238E27FC236}">
                  <a16:creationId xmlns:a16="http://schemas.microsoft.com/office/drawing/2014/main" id="{E3F0D11E-C7C2-C896-5BB5-85955ECF0D56}"/>
                </a:ext>
              </a:extLst>
            </p:cNvPr>
            <p:cNvSpPr txBox="1">
              <a:spLocks/>
            </p:cNvSpPr>
            <p:nvPr/>
          </p:nvSpPr>
          <p:spPr>
            <a:xfrm>
              <a:off x="2257761" y="2834877"/>
              <a:ext cx="992178" cy="594123"/>
            </a:xfrm>
            <a:prstGeom prst="rect">
              <a:avLst/>
            </a:prstGeom>
            <a:solidFill>
              <a:srgbClr val="0F0F0F"/>
            </a:solidFill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Quap</a:t>
              </a:r>
              <a:r>
                <a:rPr lang="en-US" sz="1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pPr marL="0" indent="0" algn="ctr">
                <a:buNone/>
              </a:pPr>
              <a:r>
                <a:rPr lang="en-US" sz="1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MCMC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FC1ECC9-3164-7DDC-11A4-F673D63EA9C8}"/>
              </a:ext>
            </a:extLst>
          </p:cNvPr>
          <p:cNvSpPr txBox="1"/>
          <p:nvPr/>
        </p:nvSpPr>
        <p:spPr>
          <a:xfrm>
            <a:off x="1108949" y="3280164"/>
            <a:ext cx="103573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lppd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quap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LOGO-CV: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-1728.332, compared to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MCMC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-415.6192 and single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quap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-123.2606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(probably not acceptable to compare these given the pseudo-LOGO-CV) </a:t>
            </a:r>
          </a:p>
        </p:txBody>
      </p:sp>
    </p:spTree>
    <p:extLst>
      <p:ext uri="{BB962C8B-B14F-4D97-AF65-F5344CB8AC3E}">
        <p14:creationId xmlns:p14="http://schemas.microsoft.com/office/powerpoint/2010/main" val="4196884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68FBC-E407-96D6-A5D2-FBD5DF6D0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4F05E-7027-0A0B-F944-D346089C1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60338"/>
            <a:ext cx="10628085" cy="1325563"/>
          </a:xfrm>
        </p:spPr>
        <p:txBody>
          <a:bodyPr/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Remaining Issues</a:t>
            </a:r>
          </a:p>
        </p:txBody>
      </p:sp>
      <p:cxnSp>
        <p:nvCxnSpPr>
          <p:cNvPr id="4" name="Google Shape;106;p13">
            <a:extLst>
              <a:ext uri="{FF2B5EF4-FFF2-40B4-BE49-F238E27FC236}">
                <a16:creationId xmlns:a16="http://schemas.microsoft.com/office/drawing/2014/main" id="{07F3D80E-E76E-5307-2F11-F808381089E5}"/>
              </a:ext>
            </a:extLst>
          </p:cNvPr>
          <p:cNvCxnSpPr/>
          <p:nvPr/>
        </p:nvCxnSpPr>
        <p:spPr>
          <a:xfrm>
            <a:off x="0" y="386616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106;p13">
            <a:extLst>
              <a:ext uri="{FF2B5EF4-FFF2-40B4-BE49-F238E27FC236}">
                <a16:creationId xmlns:a16="http://schemas.microsoft.com/office/drawing/2014/main" id="{AF4D0C82-4979-706B-B9B4-07864C8B3A23}"/>
              </a:ext>
            </a:extLst>
          </p:cNvPr>
          <p:cNvCxnSpPr/>
          <p:nvPr/>
        </p:nvCxnSpPr>
        <p:spPr>
          <a:xfrm>
            <a:off x="-498929" y="6484084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394C2FE-3A97-C404-DDAA-78444A9375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50684" y="1190175"/>
                <a:ext cx="10515599" cy="5246574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SzPct val="100000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Predictions for sqrt(</a:t>
                </a: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cpa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 are good</a:t>
                </a:r>
              </a:p>
              <a:p>
                <a:pPr>
                  <a:buSzPct val="100000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Issues with back-transforming the data</a:t>
                </a:r>
              </a:p>
              <a:p>
                <a:pPr lvl="1">
                  <a:buSzPct val="100000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Think: how will the resulting distribution change when you square values following a normal distribution?</a:t>
                </a:r>
              </a:p>
              <a:p>
                <a:pPr lvl="1">
                  <a:buSzPct val="100000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Anything less than 1 gets smaller, larger values (&gt;1) will blow up</a:t>
                </a:r>
              </a:p>
              <a:p>
                <a:pPr lvl="1">
                  <a:buSzPct val="100000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SzPct val="100000"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SzPct val="100000"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SzPct val="100000"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SzPct val="100000"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SzPct val="100000"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SzPct val="100000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Try Box-Cox transformation</a:t>
                </a:r>
                <a:r>
                  <a:rPr lang="en-US" sz="24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or untransformed data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~ 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𝑁𝑜𝑟𝑚𝑎𝑙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100,25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SzPct val="100000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Simply scaling data isn’t easy in large datasets </a:t>
                </a:r>
              </a:p>
              <a:p>
                <a:pPr>
                  <a:buSzPct val="100000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Fine-tune priors needed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394C2FE-3A97-C404-DDAA-78444A9375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0684" y="1190175"/>
                <a:ext cx="10515599" cy="5246574"/>
              </a:xfrm>
              <a:blipFill>
                <a:blip r:embed="rId3"/>
                <a:stretch>
                  <a:fillRect l="-696" t="-1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6E1E5C4-AB33-3CB7-D17B-E607ADEE8E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43" t="2012" b="5349"/>
          <a:stretch>
            <a:fillRect/>
          </a:stretch>
        </p:blipFill>
        <p:spPr>
          <a:xfrm>
            <a:off x="9199427" y="3092714"/>
            <a:ext cx="2692357" cy="156730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3E52F5BA-28AC-23AA-520F-DB0BFA60B0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86" t="2443" r="1616" b="5447"/>
          <a:stretch>
            <a:fillRect/>
          </a:stretch>
        </p:blipFill>
        <p:spPr>
          <a:xfrm>
            <a:off x="3220570" y="3092714"/>
            <a:ext cx="2740083" cy="159509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Picture 5" descr="A graph of a bar graph&#10;&#10;AI-generated content may be incorrect.">
            <a:extLst>
              <a:ext uri="{FF2B5EF4-FFF2-40B4-BE49-F238E27FC236}">
                <a16:creationId xmlns:a16="http://schemas.microsoft.com/office/drawing/2014/main" id="{50EC57E8-EDD7-91C0-0EEC-3C739D661DE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927" r="-1" b="14198"/>
          <a:stretch>
            <a:fillRect/>
          </a:stretch>
        </p:blipFill>
        <p:spPr>
          <a:xfrm>
            <a:off x="6262626" y="3092714"/>
            <a:ext cx="2759492" cy="1577705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4DB088C8-E1B5-FCC3-668F-9A77F03782C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2298"/>
          <a:stretch>
            <a:fillRect/>
          </a:stretch>
        </p:blipFill>
        <p:spPr>
          <a:xfrm>
            <a:off x="283655" y="3097062"/>
            <a:ext cx="2740085" cy="159074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</p:pic>
      <p:cxnSp>
        <p:nvCxnSpPr>
          <p:cNvPr id="10" name="Google Shape;106;p13">
            <a:extLst>
              <a:ext uri="{FF2B5EF4-FFF2-40B4-BE49-F238E27FC236}">
                <a16:creationId xmlns:a16="http://schemas.microsoft.com/office/drawing/2014/main" id="{ECB0BA3B-6833-F182-419E-C96E8896C36E}"/>
              </a:ext>
            </a:extLst>
          </p:cNvPr>
          <p:cNvCxnSpPr>
            <a:cxnSpLocks/>
          </p:cNvCxnSpPr>
          <p:nvPr/>
        </p:nvCxnSpPr>
        <p:spPr>
          <a:xfrm flipV="1">
            <a:off x="6085316" y="2887693"/>
            <a:ext cx="0" cy="194023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FFFA4FDA-DD0E-C1E0-1BB2-9CC5B0BC60CF}"/>
              </a:ext>
            </a:extLst>
          </p:cNvPr>
          <p:cNvSpPr txBox="1">
            <a:spLocks/>
          </p:cNvSpPr>
          <p:nvPr/>
        </p:nvSpPr>
        <p:spPr>
          <a:xfrm>
            <a:off x="2299303" y="2476487"/>
            <a:ext cx="1448874" cy="8224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sqrt(</a:t>
            </a: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cpa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 i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2288AF6-31B6-B45B-1D90-FE095E86389C}"/>
              </a:ext>
            </a:extLst>
          </p:cNvPr>
          <p:cNvSpPr txBox="1">
            <a:spLocks/>
          </p:cNvSpPr>
          <p:nvPr/>
        </p:nvSpPr>
        <p:spPr>
          <a:xfrm>
            <a:off x="8297681" y="2465201"/>
            <a:ext cx="1448874" cy="8224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cpa</a:t>
            </a:r>
            <a:endParaRPr lang="en-US" sz="2000" i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CB1C013-19F4-7E2F-3ECD-69099C4DB20F}"/>
              </a:ext>
            </a:extLst>
          </p:cNvPr>
          <p:cNvCxnSpPr>
            <a:cxnSpLocks/>
          </p:cNvCxnSpPr>
          <p:nvPr/>
        </p:nvCxnSpPr>
        <p:spPr>
          <a:xfrm>
            <a:off x="2803555" y="3875297"/>
            <a:ext cx="58857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0645C08-0D5C-FF4B-9F83-59681A950F12}"/>
              </a:ext>
            </a:extLst>
          </p:cNvPr>
          <p:cNvCxnSpPr>
            <a:cxnSpLocks/>
          </p:cNvCxnSpPr>
          <p:nvPr/>
        </p:nvCxnSpPr>
        <p:spPr>
          <a:xfrm>
            <a:off x="8782918" y="3896563"/>
            <a:ext cx="58857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800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09638-4525-9E77-C032-2C172A4F3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CA70F-3712-685A-FC27-E42E5F019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60338"/>
            <a:ext cx="10628085" cy="1325563"/>
          </a:xfrm>
        </p:spPr>
        <p:txBody>
          <a:bodyPr/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cxnSp>
        <p:nvCxnSpPr>
          <p:cNvPr id="4" name="Google Shape;106;p13">
            <a:extLst>
              <a:ext uri="{FF2B5EF4-FFF2-40B4-BE49-F238E27FC236}">
                <a16:creationId xmlns:a16="http://schemas.microsoft.com/office/drawing/2014/main" id="{92B645B4-5EB6-AFF4-1E97-769429A319B0}"/>
              </a:ext>
            </a:extLst>
          </p:cNvPr>
          <p:cNvCxnSpPr/>
          <p:nvPr/>
        </p:nvCxnSpPr>
        <p:spPr>
          <a:xfrm>
            <a:off x="0" y="386616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106;p13">
            <a:extLst>
              <a:ext uri="{FF2B5EF4-FFF2-40B4-BE49-F238E27FC236}">
                <a16:creationId xmlns:a16="http://schemas.microsoft.com/office/drawing/2014/main" id="{4D3B6441-663C-D468-364B-BA7B0A2C71AB}"/>
              </a:ext>
            </a:extLst>
          </p:cNvPr>
          <p:cNvCxnSpPr/>
          <p:nvPr/>
        </p:nvCxnSpPr>
        <p:spPr>
          <a:xfrm>
            <a:off x="-498929" y="6484084"/>
            <a:ext cx="18288000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B099F61-8659-7F6A-349E-2BD20C819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684" y="1190175"/>
            <a:ext cx="10515599" cy="5246574"/>
          </a:xfrm>
        </p:spPr>
        <p:txBody>
          <a:bodyPr>
            <a:normAutofit/>
          </a:bodyPr>
          <a:lstStyle/>
          <a:p>
            <a:pPr marL="457200" indent="-1371600">
              <a:buSzPct val="100000"/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 Westfall, J. A., Coulston, J. W., Gray, A. N., Shaw, J. D., Radtke, P. J., Walker, D. M., Weiskittel, A. R., MacFarlane, D. W., Affleck, D. L. R., Zhao, D., Temesgen, H., Poudel, K. P., Frank, J. M.,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Prisley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S. P., Wang, Y., Meador, A. J. S., Auty, D., &amp; Domke, G. M. (2024). A national-scale tree volume, biomass, and carbon modeling system for the United States.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Gen. Tech. Rep. WO-104. Washington, DC: U.S. Department of Agriculture, Forest Service.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104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https://doi.org/10.2737/WO-GTR-104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1371600">
              <a:buSzPct val="100000"/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 Yang, S.-I., Brandeis, T. J., &amp; Skiba, T. (2025). Quantifying Stand-level Carbon Using an Alternative Method: A Case Study of National Forests and Parks in Southern Appalachian Mountains.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Journal of Forestry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123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(5), 653–674.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https://doi.org/10.1007/s44392-025-00044-x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1371600">
              <a:buSzPct val="100000"/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3 McElreath, R. (2020).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Statistical rethinking: A Bayesian course with examples in R and Stan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(Second edition). Chapman &amp; Hall/CRC.</a:t>
            </a:r>
          </a:p>
          <a:p>
            <a:pPr marL="457200" indent="-1371600">
              <a:buSzPct val="100000"/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 Chinembiri, T. S., Mutanga, O., &amp; Dube, T. (2022). Landsat-8 and Sentinel-2 Based Prediction of Forest Plantation C Stock Using Spatially Varying Coefficient Bayesian Hierarchical Models.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Remote Sensing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(22), 5676.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https://doi.org/10.3390/rs14225676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1371600">
              <a:buSzPct val="100000"/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 Finley, A. O., Banerjee, S., Ek, A. R., &amp; McRoberts, R. E. (2008). Bayesian multivariate process modeling for prediction of forest attributes.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Journal of Agricultural, Biological, and Environmental Statistics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(1), 60–83.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https://doi.org/10.1198/108571108X273160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1371600">
              <a:buSzPct val="100000"/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6 Skiba, Tara. Dissertation (publication pending)</a:t>
            </a:r>
          </a:p>
          <a:p>
            <a:pPr marL="457200" indent="-1371600">
              <a:buSzPct val="100000"/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7 Chinembiri, T. S., Mutanga, O., &amp; Dube, T. (2023). Hierarchical Bayesian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geostatistics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for C stock prediction in disturbed plantation forest in Zimbabwe.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Ecological Informatics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73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101934.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https://doi.org/10.1016/j.ecoinf.2022.101934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1371600">
              <a:buSzPct val="100000"/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919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1642</TotalTime>
  <Words>1405</Words>
  <Application>Microsoft Office PowerPoint</Application>
  <PresentationFormat>Widescreen</PresentationFormat>
  <Paragraphs>173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Wingdings</vt:lpstr>
      <vt:lpstr>Office Theme</vt:lpstr>
      <vt:lpstr>Beneficial Bayes</vt:lpstr>
      <vt:lpstr>Introduction to carbon models</vt:lpstr>
      <vt:lpstr>Introduction to carbon models</vt:lpstr>
      <vt:lpstr>Data</vt:lpstr>
      <vt:lpstr>Proposed question:</vt:lpstr>
      <vt:lpstr>Preliminary data exploration</vt:lpstr>
      <vt:lpstr>Preliminary data exploration</vt:lpstr>
      <vt:lpstr>Linear quap with LOGO-CV</vt:lpstr>
      <vt:lpstr>Mixed-MCMC</vt:lpstr>
      <vt:lpstr>Quap Results</vt:lpstr>
      <vt:lpstr>Mixed-MCMC Results</vt:lpstr>
      <vt:lpstr>Model Comparison</vt:lpstr>
      <vt:lpstr>Remaining Issues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Skiba, Tara</dc:creator>
  <cp:lastModifiedBy>Skiba, Tara</cp:lastModifiedBy>
  <cp:revision>35</cp:revision>
  <dcterms:created xsi:type="dcterms:W3CDTF">2025-12-07T22:05:27Z</dcterms:created>
  <dcterms:modified xsi:type="dcterms:W3CDTF">2025-12-09T01:29:09Z</dcterms:modified>
</cp:coreProperties>
</file>